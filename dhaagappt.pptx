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9" r:id="rId12"/>
    <p:sldId id="270" r:id="rId13"/>
    <p:sldId id="271" r:id="rId14"/>
    <p:sldId id="264" r:id="rId15"/>
    <p:sldId id="265" r:id="rId16"/>
    <p:sldId id="272" r:id="rId17"/>
    <p:sldId id="273" r:id="rId18"/>
  </p:sldIdLst>
  <p:sldSz cx="18288000" cy="10287000"/>
  <p:notesSz cx="6858000" cy="9144000"/>
  <p:embeddedFontLst>
    <p:embeddedFont>
      <p:font typeface="Arimo" panose="020B0604020202020204" charset="0"/>
      <p:regular r:id="rId20"/>
    </p:embeddedFont>
    <p:embeddedFont>
      <p:font typeface="Arimo Bold" panose="020B0604020202020204" charset="0"/>
      <p:regular r:id="rId21"/>
    </p:embeddedFon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3399" autoAdjust="0"/>
  </p:normalViewPr>
  <p:slideViewPr>
    <p:cSldViewPr>
      <p:cViewPr>
        <p:scale>
          <a:sx n="49" d="100"/>
          <a:sy n="49" d="100"/>
        </p:scale>
        <p:origin x="1042" y="-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Open with the core shift: safety should not depend on a woman finding and pressing a panic button at exactly the right moment. </a:t>
            </a:r>
            <a:r>
              <a:rPr lang="en-US" dirty="0" err="1"/>
              <a:t>Dhaaga</a:t>
            </a:r>
            <a:r>
              <a:rPr lang="en-US" dirty="0"/>
              <a:t> turns an ordinary journey into a responsive Thread, with Knots that make support progressively closer when a check-in is missed.</a:t>
            </a:r>
          </a:p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users are women travelling alone and the people in her circle. The problem is not that apps lack a panic button. It is that a button needs her to act at the worst moment, and one-size alerts either miss her or cry wolf.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Start by choosing the journey context, then set the check-in rhythm and trusted contacts.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CHECK is discreet and time-bound. The prompt appears only within the response window the user configured.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CONNECT moves the first alert to the designated Responder. A temporary link is included only when the user has enabled it.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ESCALATE only happens when needed. It widens the circle to trusted contacts and shows emergency-call options.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I'M SAFE gives the user control. Confirming safety stops the escalation sequence.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product beyond a single panic button. The system is staged, context-aware, discreet, privacy-first and user-controlled. Then ground the concept in the implementation: the stack is explicit, and the architecture separates escalation from evidence handling while keeping both workflows connected.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Escalation runs on the server, not the phone, so it continues if her phone dies. Contacts open a link in any browser. The vault is separate: records are encrypted on her device before upload, so the server only holds ciphertext and a time seal.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Feasibility: the prototype is already deployed and tested end to end. It uses free-tier services, and contacts need no app, which removes the biggest adoption barrier. Scaling needs phone verification, a database and partnerships, all of which are listed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Impact is stated carefully: </a:t>
            </a:r>
            <a:r>
              <a:rPr dirty="0" err="1"/>
              <a:t>Dhaaga</a:t>
            </a:r>
            <a:r>
              <a:rPr dirty="0"/>
              <a:t> makes it easier for help to start and keeps her in control. It does not promise rescue. Useful metrics for a pilot would be time to first response and the false-alarm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All libraries, services, fonts and AI assistance are acknowledged, as the hackathon rules require.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0391-328C-8B29-B6B5-8268065B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BA3373-FD6D-979B-F75C-9567D87CC5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7A6D5-4146-15D2-139E-2CF5338239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BC42D2D-A536-663F-E4F0-AE84E4030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C180124-E716-3E90-0EA4-A931A60D1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Close on the product's promise and the fact that it is live and inspectable. Point to both links. Then return to the language of the Thread: the user does not have to find the right button at the right moment. When a Knot is missed, the circle can respond.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C5189-2920-6E19-FFB7-6711937F48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E820-DC53-1134-74C7-5660CAFE3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31582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IqraSanadi22/Dhaaga" TargetMode="External"/><Relationship Id="rId4" Type="http://schemas.openxmlformats.org/officeDocument/2006/relationships/hyperlink" Target="https://dhaaga-dg07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15492" y="1164155"/>
            <a:ext cx="8069829" cy="191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17"/>
              </a:lnSpc>
            </a:pPr>
            <a:r>
              <a:rPr lang="en-US" sz="12700" spc="-152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DHAAGA</a:t>
            </a:r>
            <a:endParaRPr lang="en-US" sz="15263" spc="-152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5492" y="3286068"/>
            <a:ext cx="9341568" cy="112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 shouldn't have to be the one who presses the button.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5660" y="4915418"/>
            <a:ext cx="10256653" cy="496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smarter approach to women's safety.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6696" y="8489215"/>
            <a:ext cx="647610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400" b="1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AUREX 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Iqra Sanadi · Isra Shaikh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9528" y="4762501"/>
            <a:ext cx="8693372" cy="3236316"/>
            <a:chOff x="0" y="0"/>
            <a:chExt cx="13217995" cy="36604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218033" cy="3660521"/>
            </a:xfrm>
            <a:custGeom>
              <a:avLst/>
              <a:gdLst/>
              <a:ahLst/>
              <a:cxnLst/>
              <a:rect l="l" t="t" r="r" b="b"/>
              <a:pathLst>
                <a:path w="13218033" h="3660521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12973939" y="0"/>
                  </a:lnTo>
                  <a:cubicBezTo>
                    <a:pt x="13108687" y="0"/>
                    <a:pt x="13218033" y="109220"/>
                    <a:pt x="13218033" y="244094"/>
                  </a:cubicBezTo>
                  <a:lnTo>
                    <a:pt x="13218033" y="3416427"/>
                  </a:lnTo>
                  <a:cubicBezTo>
                    <a:pt x="13218033" y="3551174"/>
                    <a:pt x="13108814" y="3660521"/>
                    <a:pt x="12973939" y="3660521"/>
                  </a:cubicBezTo>
                  <a:lnTo>
                    <a:pt x="244094" y="3660521"/>
                  </a:lnTo>
                  <a:cubicBezTo>
                    <a:pt x="109220" y="3660521"/>
                    <a:pt x="0" y="3551174"/>
                    <a:pt x="0" y="3416427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50628" y="5697487"/>
            <a:ext cx="8693372" cy="165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The idea: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A journey becomes a </a:t>
            </a:r>
            <a:r>
              <a:rPr lang="en-US" sz="3002" dirty="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Thread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. Each check-in becomes a </a:t>
            </a:r>
            <a:r>
              <a:rPr lang="en-US" sz="3002" dirty="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Knot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. When a Knot is missed, help moves closer.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One Button Is Not Enough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3291840"/>
            <a:ext cx="10058400" cy="34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The moment of risk: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she may be unable to reach her phone, open an app and press SOS.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The alert problem: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one-press apps either need that press, or alert everyone at once and teach people to ignore them.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The privacy problem: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contacts often have to install an app, and location is shared all the time, not just when it matters.</a:t>
            </a:r>
          </a:p>
        </p:txBody>
      </p:sp>
      <p:sp>
        <p:nvSpPr>
          <p:cNvPr id="7" name="Who it is for card"/>
          <p:cNvSpPr/>
          <p:nvPr/>
        </p:nvSpPr>
        <p:spPr>
          <a:xfrm>
            <a:off x="11521440" y="3291840"/>
            <a:ext cx="5852160" cy="48463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ho label"/>
          <p:cNvSpPr txBox="1"/>
          <p:nvPr/>
        </p:nvSpPr>
        <p:spPr>
          <a:xfrm>
            <a:off x="11978640" y="36576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WHO IT'S FOR</a:t>
            </a:r>
          </a:p>
        </p:txBody>
      </p:sp>
      <p:sp>
        <p:nvSpPr>
          <p:cNvPr id="9" name="Who body"/>
          <p:cNvSpPr txBox="1"/>
          <p:nvPr/>
        </p:nvSpPr>
        <p:spPr>
          <a:xfrm>
            <a:off x="11978640" y="4297680"/>
            <a:ext cx="5029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600" b="1">
                <a:solidFill>
                  <a:srgbClr val="F7F1E7"/>
                </a:solidFill>
                <a:latin typeface="Inter Bold"/>
              </a:rPr>
              <a:t>Women travelling alone:</a:t>
            </a:r>
            <a:r>
              <a:rPr sz="2600" b="0">
                <a:solidFill>
                  <a:srgbClr val="F7F1E7"/>
                </a:solidFill>
                <a:latin typeface="Inter"/>
              </a:rPr>
              <a:t> late cabs, walks home, first-time meetings.</a:t>
            </a:r>
          </a:p>
          <a:p>
            <a:pPr>
              <a:spcAft>
                <a:spcPts val="1800"/>
              </a:spcAft>
            </a:pPr>
            <a:r>
              <a:rPr sz="2600" b="1">
                <a:solidFill>
                  <a:srgbClr val="F7F1E7"/>
                </a:solidFill>
                <a:latin typeface="Inter Bold"/>
              </a:rPr>
              <a:t>Her circle:</a:t>
            </a:r>
            <a:r>
              <a:rPr sz="2600" b="0">
                <a:solidFill>
                  <a:srgbClr val="F7F1E7"/>
                </a:solidFill>
                <a:latin typeface="Inter"/>
              </a:rPr>
              <a:t> friends and family who may be the first to help, and need to know what to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1320926" y="1380950"/>
            <a:ext cx="5822884" cy="6895951"/>
            <a:chOff x="0" y="0"/>
            <a:chExt cx="7320737" cy="86698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0788" cy="8669836"/>
            </a:xfrm>
            <a:custGeom>
              <a:avLst/>
              <a:gdLst/>
              <a:ahLst/>
              <a:cxnLst/>
              <a:rect l="l" t="t" r="r" b="b"/>
              <a:pathLst>
                <a:path w="7320788" h="8669836">
                  <a:moveTo>
                    <a:pt x="0" y="0"/>
                  </a:moveTo>
                  <a:lnTo>
                    <a:pt x="7320788" y="0"/>
                  </a:lnTo>
                  <a:lnTo>
                    <a:pt x="7320788" y="8669836"/>
                  </a:lnTo>
                  <a:lnTo>
                    <a:pt x="0" y="8669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3821" b="-4382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7543"/>
            <a:ext cx="10066010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RESPONSE LOOP · 1 OF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9039" y="2552700"/>
            <a:ext cx="9150925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Start a Thread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3828044"/>
            <a:ext cx="9150925" cy="200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Choose Cab ride, Walking home, or Meeting someone.</a:t>
            </a:r>
          </a:p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Set the check-in rhythm and trusted contacts.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0066010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RESPONSE LOOP · 2 OF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2857500"/>
            <a:ext cx="9150925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Check In, Discreetly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208" y="4199298"/>
            <a:ext cx="9150925" cy="112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A discreet “Are you okay?” prompt appears within the configured response window.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896201" y="1431712"/>
            <a:ext cx="5490553" cy="7826588"/>
            <a:chOff x="0" y="0"/>
            <a:chExt cx="7320737" cy="10435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20788" cy="10435382"/>
            </a:xfrm>
            <a:custGeom>
              <a:avLst/>
              <a:gdLst/>
              <a:ahLst/>
              <a:cxnLst/>
              <a:rect l="l" t="t" r="r" b="b"/>
              <a:pathLst>
                <a:path w="7320788" h="10435382">
                  <a:moveTo>
                    <a:pt x="0" y="0"/>
                  </a:moveTo>
                  <a:lnTo>
                    <a:pt x="7320788" y="0"/>
                  </a:lnTo>
                  <a:lnTo>
                    <a:pt x="7320788" y="10435382"/>
                  </a:lnTo>
                  <a:lnTo>
                    <a:pt x="0" y="10435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948" b="-2794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1261435" y="974788"/>
            <a:ext cx="5917721" cy="8204808"/>
            <a:chOff x="0" y="0"/>
            <a:chExt cx="5266950" cy="7302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67001" cy="7302540"/>
            </a:xfrm>
            <a:custGeom>
              <a:avLst/>
              <a:gdLst/>
              <a:ahLst/>
              <a:cxnLst/>
              <a:rect l="l" t="t" r="r" b="b"/>
              <a:pathLst>
                <a:path w="5267001" h="7302540">
                  <a:moveTo>
                    <a:pt x="0" y="0"/>
                  </a:moveTo>
                  <a:lnTo>
                    <a:pt x="5267001" y="0"/>
                  </a:lnTo>
                  <a:lnTo>
                    <a:pt x="5267001" y="7302540"/>
                  </a:lnTo>
                  <a:lnTo>
                    <a:pt x="0" y="7302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139" b="-3013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7543"/>
            <a:ext cx="10066010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RESPONSE LOOP · 3 OF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3" y="2705100"/>
            <a:ext cx="9150925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Connect the Responder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4" y="3924300"/>
            <a:ext cx="9150925" cy="200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If a check-in is missed, the designated Responder receives an alert.</a:t>
            </a:r>
          </a:p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A temporary location link is shared when enabled.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199793" y="1341008"/>
            <a:ext cx="5154363" cy="7229471"/>
            <a:chOff x="0" y="0"/>
            <a:chExt cx="7320737" cy="102680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0788" cy="10267907"/>
            </a:xfrm>
            <a:custGeom>
              <a:avLst/>
              <a:gdLst/>
              <a:ahLst/>
              <a:cxnLst/>
              <a:rect l="l" t="t" r="r" b="b"/>
              <a:pathLst>
                <a:path w="7320788" h="10267907">
                  <a:moveTo>
                    <a:pt x="0" y="0"/>
                  </a:moveTo>
                  <a:lnTo>
                    <a:pt x="7320788" y="0"/>
                  </a:lnTo>
                  <a:lnTo>
                    <a:pt x="7320788" y="10267907"/>
                  </a:lnTo>
                  <a:lnTo>
                    <a:pt x="0" y="1026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219" b="-2921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7543"/>
            <a:ext cx="10066010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RESPONSE LOOP · 4 OF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3009900"/>
            <a:ext cx="9150925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Widen the Circle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676" y="4221729"/>
            <a:ext cx="9150925" cy="146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Wider trusted contacts are alerted.</a:t>
            </a:r>
          </a:p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Emergency-call options appear.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020482" y="2479104"/>
            <a:ext cx="7569685" cy="3613833"/>
            <a:chOff x="0" y="0"/>
            <a:chExt cx="7320737" cy="34949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0788" cy="3495009"/>
            </a:xfrm>
            <a:custGeom>
              <a:avLst/>
              <a:gdLst/>
              <a:ahLst/>
              <a:cxnLst/>
              <a:rect l="l" t="t" r="r" b="b"/>
              <a:pathLst>
                <a:path w="7320788" h="3495009">
                  <a:moveTo>
                    <a:pt x="0" y="0"/>
                  </a:moveTo>
                  <a:lnTo>
                    <a:pt x="7320788" y="0"/>
                  </a:lnTo>
                  <a:lnTo>
                    <a:pt x="7320788" y="3495009"/>
                  </a:lnTo>
                  <a:lnTo>
                    <a:pt x="0" y="349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2737" b="-18273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7543"/>
            <a:ext cx="10066010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RESPONSE LOOP · 5 OF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7434" y="2479104"/>
            <a:ext cx="9150925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You Stop the Sequence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5" y="3695065"/>
            <a:ext cx="10066010" cy="59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The user confirms safety, and escalation stops.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WHERE DHAAGA FITS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637" y="2095500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Where DHAAGA Fits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8170" y="3418151"/>
            <a:ext cx="16471659" cy="34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Emergency services (112):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Dhaaga does not replace them. Call options appear at Stage 3, and official helplines stay the fallback.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Friends and family: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Her own circle acts first: one Responder, then wider trusted contacts, in an order she sets.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Typical SOS-button apps: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They need a press, or alert everyone at once. Dhaaga checks on her first and widens only when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WHAT MAKES DHAAGA UNIQUE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What Makes DHAAGA Unique?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246" y="3162300"/>
            <a:ext cx="8007058" cy="505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Staged escalation: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Check, Connect, Escalate. A missed check-in is not treated as proof of an attack.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Server-driven: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the escalation timer runs on the server, so it continues if her phone dies.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No install for contacts: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they just open a link in any browser.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9696" y="3162300"/>
            <a:ext cx="8007058" cy="505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Location only when it matters: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shared once an alert reaches Stage 2, and dark again when she is safe.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Privacy-first vault: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encrypted on her device, consent-based, deletable, with a verifiable time seal.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Emergency services stay the fallback: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call options appear at Stage 3, and calling is her choice.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27925"/>
            <a:ext cx="17386744" cy="32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spc="81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TECHNICAL APPROACH · FEATURES +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423997"/>
            <a:ext cx="16471659" cy="81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3"/>
              </a:lnSpc>
            </a:pPr>
            <a:r>
              <a:rPr lang="en-US" sz="5854" b="1" spc="-28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Beyond a Panic Button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5095" y="2558720"/>
            <a:ext cx="740531" cy="740550"/>
            <a:chOff x="0" y="0"/>
            <a:chExt cx="987374" cy="9874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3"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206257" y="2558720"/>
            <a:ext cx="740531" cy="740550"/>
            <a:chOff x="0" y="0"/>
            <a:chExt cx="987374" cy="9874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3" b="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97580" y="2558720"/>
            <a:ext cx="740531" cy="740550"/>
            <a:chOff x="0" y="0"/>
            <a:chExt cx="987374" cy="987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3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4788894" y="2558720"/>
            <a:ext cx="740531" cy="740550"/>
            <a:chOff x="0" y="0"/>
            <a:chExt cx="987374" cy="987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3"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080055" y="2558720"/>
            <a:ext cx="740531" cy="740550"/>
            <a:chOff x="0" y="0"/>
            <a:chExt cx="987374" cy="9874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3" b="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371521" y="2558720"/>
            <a:ext cx="740531" cy="740550"/>
            <a:chOff x="0" y="0"/>
            <a:chExt cx="987374" cy="9874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r="3" b="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662845" y="2558720"/>
            <a:ext cx="740531" cy="740550"/>
            <a:chOff x="0" y="0"/>
            <a:chExt cx="987374" cy="9874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87425" cy="987425"/>
            </a:xfrm>
            <a:custGeom>
              <a:avLst/>
              <a:gdLst/>
              <a:ahLst/>
              <a:cxnLst/>
              <a:rect l="l" t="t" r="r" b="b"/>
              <a:pathLst>
                <a:path w="987425" h="987425">
                  <a:moveTo>
                    <a:pt x="0" y="0"/>
                  </a:moveTo>
                  <a:lnTo>
                    <a:pt x="987425" y="0"/>
                  </a:lnTo>
                  <a:lnTo>
                    <a:pt x="987425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r="3" b="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915095" y="4184933"/>
            <a:ext cx="4442012" cy="530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Staged escalation: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check-in → Responder → trusted circle.</a:t>
            </a:r>
          </a:p>
          <a:p>
            <a:pPr algn="l">
              <a:lnSpc>
                <a:spcPts val="3211"/>
              </a:lnSpc>
            </a:pPr>
            <a:endParaRPr lang="en-US" sz="2326" dirty="0">
              <a:solidFill>
                <a:srgbClr val="F7F1E7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Context-aware check-ins: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rhythms adapt to the journey.</a:t>
            </a:r>
          </a:p>
          <a:p>
            <a:pPr algn="l">
              <a:lnSpc>
                <a:spcPts val="3211"/>
              </a:lnSpc>
            </a:pPr>
            <a:endParaRPr lang="en-US" sz="2326" dirty="0">
              <a:solidFill>
                <a:srgbClr val="F7F1E7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Discreet trigger: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hold or shake gesture requests help while the app is open.</a:t>
            </a:r>
          </a:p>
          <a:p>
            <a:pPr algn="l">
              <a:lnSpc>
                <a:spcPts val="3211"/>
              </a:lnSpc>
            </a:pPr>
            <a:endParaRPr lang="en-US" sz="2326" dirty="0">
              <a:solidFill>
                <a:srgbClr val="F7F1E7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Optional duress PIN: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calculator-style disguise for a discreet interaction.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14651" y="4184933"/>
            <a:ext cx="4442012" cy="489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Privacy-first evidence vault: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client-side encryption, time-seal verification, and deletion controls.</a:t>
            </a:r>
          </a:p>
          <a:p>
            <a:pPr algn="l">
              <a:lnSpc>
                <a:spcPts val="3211"/>
              </a:lnSpc>
            </a:pPr>
            <a:endParaRPr lang="en-US" sz="2326" dirty="0">
              <a:solidFill>
                <a:srgbClr val="F7F1E7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Complaint draft: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user-selected facts become an editable draft for review.</a:t>
            </a:r>
          </a:p>
          <a:p>
            <a:pPr algn="l">
              <a:lnSpc>
                <a:spcPts val="3211"/>
              </a:lnSpc>
            </a:pPr>
            <a:endParaRPr lang="en-US" sz="2326" dirty="0">
              <a:solidFill>
                <a:srgbClr val="F7F1E7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Temporary location sharing: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consent-based support for the trusted-contact workflow.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714206" y="2558720"/>
            <a:ext cx="6672548" cy="3643179"/>
            <a:chOff x="0" y="0"/>
            <a:chExt cx="8896731" cy="48575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896731" cy="4857623"/>
            </a:xfrm>
            <a:custGeom>
              <a:avLst/>
              <a:gdLst/>
              <a:ahLst/>
              <a:cxnLst/>
              <a:rect l="l" t="t" r="r" b="b"/>
              <a:pathLst>
                <a:path w="8896731" h="4857623">
                  <a:moveTo>
                    <a:pt x="0" y="0"/>
                  </a:moveTo>
                  <a:lnTo>
                    <a:pt x="8896731" y="0"/>
                  </a:lnTo>
                  <a:lnTo>
                    <a:pt x="8896731" y="4857623"/>
                  </a:lnTo>
                  <a:lnTo>
                    <a:pt x="0" y="4857623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1019234" y="2800302"/>
            <a:ext cx="6367520" cy="32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spc="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STACK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19234" y="3267132"/>
            <a:ext cx="6062482" cy="2091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3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HTML · CSS · JavaScript · Node.js · Express · Web Crypto API · AES-GCM · PBKDF2 · Leaflet · OpenStreetMap · Telegram Bot API · Render · GitHub · automated smoke tests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714206" y="6221439"/>
            <a:ext cx="6672548" cy="3643179"/>
            <a:chOff x="0" y="0"/>
            <a:chExt cx="8896731" cy="48575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96731" cy="4857623"/>
            </a:xfrm>
            <a:custGeom>
              <a:avLst/>
              <a:gdLst/>
              <a:ahLst/>
              <a:cxnLst/>
              <a:rect l="l" t="t" r="r" b="b"/>
              <a:pathLst>
                <a:path w="8896731" h="4857623">
                  <a:moveTo>
                    <a:pt x="0" y="0"/>
                  </a:moveTo>
                  <a:lnTo>
                    <a:pt x="8896731" y="0"/>
                  </a:lnTo>
                  <a:lnTo>
                    <a:pt x="8896731" y="4857623"/>
                  </a:lnTo>
                  <a:lnTo>
                    <a:pt x="0" y="4857623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1005385" y="6516862"/>
            <a:ext cx="6367520" cy="32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spc="81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85720" y="6994862"/>
            <a:ext cx="6062482" cy="271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User Interface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→ Express Backend → Escalation Engine → Trusted-Contact Alert Workflow.</a:t>
            </a:r>
          </a:p>
          <a:p>
            <a:pPr algn="l">
              <a:lnSpc>
                <a:spcPts val="3211"/>
              </a:lnSpc>
            </a:pPr>
            <a:r>
              <a:rPr lang="en-US" sz="2326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Evidence Vault</a:t>
            </a:r>
            <a:r>
              <a:rPr lang="en-US" sz="2326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→ Client-Side Encryption → Record Storage → Integrity Verification → Complaint Draft.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How the Pieces Fit</a:t>
            </a:r>
          </a:p>
        </p:txBody>
      </p:sp>
      <p:sp>
        <p:nvSpPr>
          <p:cNvPr id="6" name="Flow box 1"/>
          <p:cNvSpPr/>
          <p:nvPr/>
        </p:nvSpPr>
        <p:spPr>
          <a:xfrm>
            <a:off x="914400" y="297180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 label 1"/>
          <p:cNvSpPr txBox="1"/>
          <p:nvPr/>
        </p:nvSpPr>
        <p:spPr>
          <a:xfrm>
            <a:off x="118872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HER PHONE</a:t>
            </a:r>
          </a:p>
        </p:txBody>
      </p:sp>
      <p:sp>
        <p:nvSpPr>
          <p:cNvPr id="8" name="Flow text 1"/>
          <p:cNvSpPr txBox="1"/>
          <p:nvPr/>
        </p:nvSpPr>
        <p:spPr>
          <a:xfrm>
            <a:off x="118872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Mobile web app (PWA): thread, check-ins, discreet trigger, location with consent.</a:t>
            </a:r>
          </a:p>
        </p:txBody>
      </p:sp>
      <p:sp>
        <p:nvSpPr>
          <p:cNvPr id="9" name="Flow arrow 1"/>
          <p:cNvSpPr/>
          <p:nvPr/>
        </p:nvSpPr>
        <p:spPr>
          <a:xfrm>
            <a:off x="4631436" y="4251960"/>
            <a:ext cx="384048" cy="384048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ow box 2"/>
          <p:cNvSpPr/>
          <p:nvPr/>
        </p:nvSpPr>
        <p:spPr>
          <a:xfrm>
            <a:off x="5074920" y="297180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 label 2"/>
          <p:cNvSpPr txBox="1"/>
          <p:nvPr/>
        </p:nvSpPr>
        <p:spPr>
          <a:xfrm>
            <a:off x="534924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EXPRESS SERVER</a:t>
            </a:r>
          </a:p>
        </p:txBody>
      </p:sp>
      <p:sp>
        <p:nvSpPr>
          <p:cNvPr id="12" name="Flow text 2"/>
          <p:cNvSpPr txBox="1"/>
          <p:nvPr/>
        </p:nvSpPr>
        <p:spPr>
          <a:xfrm>
            <a:off x="534924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API and escalation engine on a 1-second timer: Held, Check, Connect, Escalate.</a:t>
            </a:r>
          </a:p>
        </p:txBody>
      </p:sp>
      <p:sp>
        <p:nvSpPr>
          <p:cNvPr id="13" name="Flow arrow 2"/>
          <p:cNvSpPr/>
          <p:nvPr/>
        </p:nvSpPr>
        <p:spPr>
          <a:xfrm>
            <a:off x="8791956" y="4251960"/>
            <a:ext cx="384048" cy="384048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 box 3"/>
          <p:cNvSpPr/>
          <p:nvPr/>
        </p:nvSpPr>
        <p:spPr>
          <a:xfrm>
            <a:off x="9235440" y="297180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 label 3"/>
          <p:cNvSpPr txBox="1"/>
          <p:nvPr/>
        </p:nvSpPr>
        <p:spPr>
          <a:xfrm>
            <a:off x="950976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ALERTS</a:t>
            </a:r>
          </a:p>
        </p:txBody>
      </p:sp>
      <p:sp>
        <p:nvSpPr>
          <p:cNvPr id="16" name="Flow text 3"/>
          <p:cNvSpPr txBox="1"/>
          <p:nvPr/>
        </p:nvSpPr>
        <p:spPr>
          <a:xfrm>
            <a:off x="950976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Telegram bot, or an in-app outbox. Responder first, then trusted contacts.</a:t>
            </a:r>
          </a:p>
        </p:txBody>
      </p:sp>
      <p:sp>
        <p:nvSpPr>
          <p:cNvPr id="17" name="Flow arrow 3"/>
          <p:cNvSpPr/>
          <p:nvPr/>
        </p:nvSpPr>
        <p:spPr>
          <a:xfrm>
            <a:off x="12952476" y="4251960"/>
            <a:ext cx="384048" cy="384048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ow box 4"/>
          <p:cNvSpPr/>
          <p:nvPr/>
        </p:nvSpPr>
        <p:spPr>
          <a:xfrm>
            <a:off x="13395959" y="297180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 label 4"/>
          <p:cNvSpPr txBox="1"/>
          <p:nvPr/>
        </p:nvSpPr>
        <p:spPr>
          <a:xfrm>
            <a:off x="1367028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CIRCLE PAGE</a:t>
            </a:r>
          </a:p>
        </p:txBody>
      </p:sp>
      <p:sp>
        <p:nvSpPr>
          <p:cNvPr id="20" name="Flow text 4"/>
          <p:cNvSpPr txBox="1"/>
          <p:nvPr/>
        </p:nvSpPr>
        <p:spPr>
          <a:xfrm>
            <a:off x="1367028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Link in any browser: temporary map (Leaflet, OpenStreetMap) and role actions.</a:t>
            </a:r>
          </a:p>
        </p:txBody>
      </p:sp>
      <p:sp>
        <p:nvSpPr>
          <p:cNvPr id="21" name="Vault row label"/>
          <p:cNvSpPr txBox="1"/>
          <p:nvPr/>
        </p:nvSpPr>
        <p:spPr>
          <a:xfrm>
            <a:off x="91440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AFTER THE JOURNEY · THE RECORD IS HERS</a:t>
            </a:r>
          </a:p>
        </p:txBody>
      </p:sp>
      <p:sp>
        <p:nvSpPr>
          <p:cNvPr id="22" name="Vault box 1"/>
          <p:cNvSpPr/>
          <p:nvPr/>
        </p:nvSpPr>
        <p:spPr>
          <a:xfrm>
            <a:off x="914400" y="67665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Vault label 1"/>
          <p:cNvSpPr txBox="1"/>
          <p:nvPr/>
        </p:nvSpPr>
        <p:spPr>
          <a:xfrm>
            <a:off x="1188720" y="70225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EVIDENCE VAULT</a:t>
            </a:r>
          </a:p>
        </p:txBody>
      </p:sp>
      <p:sp>
        <p:nvSpPr>
          <p:cNvPr id="24" name="Vault text 1"/>
          <p:cNvSpPr txBox="1"/>
          <p:nvPr/>
        </p:nvSpPr>
        <p:spPr>
          <a:xfrm>
            <a:off x="1188720" y="754380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Encrypted on her device (AES-GCM, key from her passphrase via PBKDF2).</a:t>
            </a:r>
          </a:p>
        </p:txBody>
      </p:sp>
      <p:sp>
        <p:nvSpPr>
          <p:cNvPr id="25" name="Vault arrow 1"/>
          <p:cNvSpPr/>
          <p:nvPr/>
        </p:nvSpPr>
        <p:spPr>
          <a:xfrm>
            <a:off x="6163056" y="7635240"/>
            <a:ext cx="384048" cy="384048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Vault box 2"/>
          <p:cNvSpPr/>
          <p:nvPr/>
        </p:nvSpPr>
        <p:spPr>
          <a:xfrm>
            <a:off x="6583680" y="67665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Vault label 2"/>
          <p:cNvSpPr txBox="1"/>
          <p:nvPr/>
        </p:nvSpPr>
        <p:spPr>
          <a:xfrm>
            <a:off x="6858000" y="70225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TIME SEAL</a:t>
            </a:r>
          </a:p>
        </p:txBody>
      </p:sp>
      <p:sp>
        <p:nvSpPr>
          <p:cNvPr id="28" name="Vault text 2"/>
          <p:cNvSpPr txBox="1"/>
          <p:nvPr/>
        </p:nvSpPr>
        <p:spPr>
          <a:xfrm>
            <a:off x="6858000" y="754380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The server stores only ciphertext, plus a hash-chained seal she can verify and delete.</a:t>
            </a:r>
          </a:p>
        </p:txBody>
      </p:sp>
      <p:sp>
        <p:nvSpPr>
          <p:cNvPr id="29" name="Vault arrow 2"/>
          <p:cNvSpPr/>
          <p:nvPr/>
        </p:nvSpPr>
        <p:spPr>
          <a:xfrm>
            <a:off x="11832336" y="7635240"/>
            <a:ext cx="384048" cy="384048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Vault box 3"/>
          <p:cNvSpPr/>
          <p:nvPr/>
        </p:nvSpPr>
        <p:spPr>
          <a:xfrm>
            <a:off x="12252960" y="67665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Vault label 3"/>
          <p:cNvSpPr txBox="1"/>
          <p:nvPr/>
        </p:nvSpPr>
        <p:spPr>
          <a:xfrm>
            <a:off x="12527280" y="70225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COMPLAINT DRAFT</a:t>
            </a:r>
          </a:p>
        </p:txBody>
      </p:sp>
      <p:sp>
        <p:nvSpPr>
          <p:cNvPr id="32" name="Vault text 3"/>
          <p:cNvSpPr txBox="1"/>
          <p:nvPr/>
        </p:nvSpPr>
        <p:spPr>
          <a:xfrm>
            <a:off x="12527280" y="754380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7F1E7"/>
                </a:solidFill>
                <a:latin typeface="Inter"/>
              </a:rPr>
              <a:t>Built from facts she selects. Editable, and copy unlocks after she confirms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FEASIBILITY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Built, Tested, Deployable</a:t>
            </a:r>
          </a:p>
        </p:txBody>
      </p:sp>
      <p:sp>
        <p:nvSpPr>
          <p:cNvPr id="6" name="Feasibility card 1"/>
          <p:cNvSpPr/>
          <p:nvPr/>
        </p:nvSpPr>
        <p:spPr>
          <a:xfrm>
            <a:off x="914400" y="3017520"/>
            <a:ext cx="5212080" cy="54864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easibility label 1"/>
          <p:cNvSpPr txBox="1"/>
          <p:nvPr/>
        </p:nvSpPr>
        <p:spPr>
          <a:xfrm>
            <a:off x="1280160" y="33832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ALREADY WORKING</a:t>
            </a:r>
          </a:p>
        </p:txBody>
      </p:sp>
      <p:sp>
        <p:nvSpPr>
          <p:cNvPr id="8" name="Feasibility head 1"/>
          <p:cNvSpPr txBox="1"/>
          <p:nvPr/>
        </p:nvSpPr>
        <p:spPr>
          <a:xfrm>
            <a:off x="1280160" y="3977639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7F1E7"/>
                </a:solidFill>
                <a:latin typeface="Inter Bold"/>
              </a:rPr>
              <a:t>A live prototype</a:t>
            </a:r>
          </a:p>
        </p:txBody>
      </p:sp>
      <p:sp>
        <p:nvSpPr>
          <p:cNvPr id="9" name="Feasibility body 1"/>
          <p:cNvSpPr txBox="1"/>
          <p:nvPr/>
        </p:nvSpPr>
        <p:spPr>
          <a:xfrm>
            <a:off x="1280160" y="484632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Deployed on Render, with the source on GitHub.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Automated end-to-end test of the full escalation flow.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Runs in a phone browser. Nothing to install.</a:t>
            </a:r>
          </a:p>
        </p:txBody>
      </p:sp>
      <p:sp>
        <p:nvSpPr>
          <p:cNvPr id="10" name="Feasibility card 2"/>
          <p:cNvSpPr/>
          <p:nvPr/>
        </p:nvSpPr>
        <p:spPr>
          <a:xfrm>
            <a:off x="6583680" y="3017520"/>
            <a:ext cx="5212080" cy="54864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easibility label 2"/>
          <p:cNvSpPr txBox="1"/>
          <p:nvPr/>
        </p:nvSpPr>
        <p:spPr>
          <a:xfrm>
            <a:off x="6949440" y="33832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LOW COST TO ADOPT</a:t>
            </a:r>
          </a:p>
        </p:txBody>
      </p:sp>
      <p:sp>
        <p:nvSpPr>
          <p:cNvPr id="12" name="Feasibility head 2"/>
          <p:cNvSpPr txBox="1"/>
          <p:nvPr/>
        </p:nvSpPr>
        <p:spPr>
          <a:xfrm>
            <a:off x="6949440" y="3977639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7F1E7"/>
                </a:solidFill>
                <a:latin typeface="Inter Bold"/>
              </a:rPr>
              <a:t>Free-tier friendly</a:t>
            </a:r>
          </a:p>
        </p:txBody>
      </p:sp>
      <p:sp>
        <p:nvSpPr>
          <p:cNvPr id="13" name="Feasibility body 2"/>
          <p:cNvSpPr txBox="1"/>
          <p:nvPr/>
        </p:nvSpPr>
        <p:spPr>
          <a:xfrm>
            <a:off x="6949440" y="484632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Express, Telegram bot and OpenStreetMap need no paid plan.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Contacts only open a link, so there is no adoption barrier.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A college or neighbourhood can pilot it first.</a:t>
            </a:r>
          </a:p>
        </p:txBody>
      </p:sp>
      <p:sp>
        <p:nvSpPr>
          <p:cNvPr id="14" name="Feasibility card 3"/>
          <p:cNvSpPr/>
          <p:nvPr/>
        </p:nvSpPr>
        <p:spPr>
          <a:xfrm>
            <a:off x="12252960" y="3017520"/>
            <a:ext cx="5212080" cy="54864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easibility label 3"/>
          <p:cNvSpPr txBox="1"/>
          <p:nvPr/>
        </p:nvSpPr>
        <p:spPr>
          <a:xfrm>
            <a:off x="12618720" y="33832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PATH TO SCALE</a:t>
            </a:r>
          </a:p>
        </p:txBody>
      </p:sp>
      <p:sp>
        <p:nvSpPr>
          <p:cNvPr id="16" name="Feasibility head 3"/>
          <p:cNvSpPr txBox="1"/>
          <p:nvPr/>
        </p:nvSpPr>
        <p:spPr>
          <a:xfrm>
            <a:off x="12618720" y="3977639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7F1E7"/>
                </a:solidFill>
                <a:latin typeface="Inter Bold"/>
              </a:rPr>
              <a:t>Clear next steps</a:t>
            </a:r>
          </a:p>
        </p:txBody>
      </p:sp>
      <p:sp>
        <p:nvSpPr>
          <p:cNvPr id="17" name="Feasibility body 3"/>
          <p:cNvSpPr txBox="1"/>
          <p:nvPr/>
        </p:nvSpPr>
        <p:spPr>
          <a:xfrm>
            <a:off x="12618720" y="484632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Phone-number verification for accounts.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SMS and WhatsApp alerts, and a managed database.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•  Partnerships with NGOs and local authorities.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IMPACT AND BENEFITS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Who Benefits, and How</a:t>
            </a:r>
          </a:p>
        </p:txBody>
      </p:sp>
      <p:sp>
        <p:nvSpPr>
          <p:cNvPr id="6" name="Impact card 1"/>
          <p:cNvSpPr/>
          <p:nvPr/>
        </p:nvSpPr>
        <p:spPr>
          <a:xfrm>
            <a:off x="914400" y="3017520"/>
            <a:ext cx="8046720" cy="2788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mpact label 1"/>
          <p:cNvSpPr txBox="1"/>
          <p:nvPr/>
        </p:nvSpPr>
        <p:spPr>
          <a:xfrm>
            <a:off x="1280160" y="3337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FOR HER</a:t>
            </a:r>
          </a:p>
        </p:txBody>
      </p:sp>
      <p:sp>
        <p:nvSpPr>
          <p:cNvPr id="8" name="Impact text 1"/>
          <p:cNvSpPr txBox="1"/>
          <p:nvPr/>
        </p:nvSpPr>
        <p:spPr>
          <a:xfrm>
            <a:off x="1280160" y="3931920"/>
            <a:ext cx="7315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Help can start without a button press, and alerts widen only as far as needed. Her location, record and data stay under her control.</a:t>
            </a:r>
          </a:p>
        </p:txBody>
      </p:sp>
      <p:sp>
        <p:nvSpPr>
          <p:cNvPr id="9" name="Impact card 2"/>
          <p:cNvSpPr/>
          <p:nvPr/>
        </p:nvSpPr>
        <p:spPr>
          <a:xfrm>
            <a:off x="9326880" y="3017520"/>
            <a:ext cx="8046720" cy="2788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mpact label 2"/>
          <p:cNvSpPr txBox="1"/>
          <p:nvPr/>
        </p:nvSpPr>
        <p:spPr>
          <a:xfrm>
            <a:off x="9692640" y="3337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FOR HER CIRCLE</a:t>
            </a:r>
          </a:p>
        </p:txBody>
      </p:sp>
      <p:sp>
        <p:nvSpPr>
          <p:cNvPr id="11" name="Impact text 2"/>
          <p:cNvSpPr txBox="1"/>
          <p:nvPr/>
        </p:nvSpPr>
        <p:spPr>
          <a:xfrm>
            <a:off x="9692640" y="3931920"/>
            <a:ext cx="7315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Clear roles: a Responder acts first, trusted contacts follow. A calm message and a link, with nothing to install.</a:t>
            </a:r>
          </a:p>
        </p:txBody>
      </p:sp>
      <p:sp>
        <p:nvSpPr>
          <p:cNvPr id="12" name="Impact card 3"/>
          <p:cNvSpPr/>
          <p:nvPr/>
        </p:nvSpPr>
        <p:spPr>
          <a:xfrm>
            <a:off x="914400" y="6080760"/>
            <a:ext cx="8046720" cy="2788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mpact label 3"/>
          <p:cNvSpPr txBox="1"/>
          <p:nvPr/>
        </p:nvSpPr>
        <p:spPr>
          <a:xfrm>
            <a:off x="128016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FOR CAMPUSES AND COMMUNITIES</a:t>
            </a:r>
          </a:p>
        </p:txBody>
      </p:sp>
      <p:sp>
        <p:nvSpPr>
          <p:cNvPr id="14" name="Impact text 3"/>
          <p:cNvSpPr txBox="1"/>
          <p:nvPr/>
        </p:nvSpPr>
        <p:spPr>
          <a:xfrm>
            <a:off x="1280160" y="6995160"/>
            <a:ext cx="7315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Simple to pilot with a small group. Fewer false alarms means alerts keep being taken seriously.</a:t>
            </a:r>
          </a:p>
        </p:txBody>
      </p:sp>
      <p:sp>
        <p:nvSpPr>
          <p:cNvPr id="15" name="Impact card 4"/>
          <p:cNvSpPr/>
          <p:nvPr/>
        </p:nvSpPr>
        <p:spPr>
          <a:xfrm>
            <a:off x="9326880" y="6080760"/>
            <a:ext cx="8046720" cy="2788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mpact label 4"/>
          <p:cNvSpPr txBox="1"/>
          <p:nvPr/>
        </p:nvSpPr>
        <p:spPr>
          <a:xfrm>
            <a:off x="969264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 spc="84">
                <a:solidFill>
                  <a:srgbClr val="D4AF37"/>
                </a:solidFill>
                <a:latin typeface="Inter"/>
              </a:rPr>
              <a:t>FOR THE SAFETY ECOSYSTEM</a:t>
            </a:r>
          </a:p>
        </p:txBody>
      </p:sp>
      <p:sp>
        <p:nvSpPr>
          <p:cNvPr id="17" name="Impact text 4"/>
          <p:cNvSpPr txBox="1"/>
          <p:nvPr/>
        </p:nvSpPr>
        <p:spPr>
          <a:xfrm>
            <a:off x="9692640" y="6995160"/>
            <a:ext cx="7315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F7F1E7"/>
                </a:solidFill>
                <a:latin typeface="Inter"/>
              </a:rPr>
              <a:t>Complements emergency services rather than replacing them, and gives her an organised draft if she chooses to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RESPONSIBLE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0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Limitations &amp; Restrictions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950000"/>
            <a:ext cx="17386744" cy="59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Responsible-use boundaries for the current working prototype.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2972" y="3800000"/>
            <a:ext cx="16471659" cy="310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Browsers can't guarantee the discreet trigger or background location on a locked phone. Escalation itself runs on the server.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The vault time seal is a technical record, not a promise that any authority will accept it as evidence.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Alerts travel by Telegram or a shared link. Dhaaga does not promise rescue or a guaranteed response time.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Accounts are device-bound in this prototype. Phone-number verification is planned.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Clearly distinguish what the working prototype does from what is only planned.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637" y="3108600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Future Improvements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8170" y="4381500"/>
            <a:ext cx="16471659" cy="373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Verified partnerships with NGOs, women's support </a:t>
            </a:r>
            <a:r>
              <a:rPr lang="en-US" sz="3002" dirty="0" err="1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centres</a:t>
            </a: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and local authorities.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Multilingual support for regional languages.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Improved accessibility for users with disabilities.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Better location accuracy and low-connectivity support.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Phone-number verification, SMS and WhatsApp alerts, and a production database.</a:t>
            </a:r>
          </a:p>
          <a:p>
            <a:pPr marL="543773" lvl="1" indent="-271887" algn="l">
              <a:lnSpc>
                <a:spcPts val="4215"/>
              </a:lnSpc>
              <a:buFont typeface="Arial"/>
              <a:buChar char="•"/>
            </a:pPr>
            <a:r>
              <a:rPr lang="en-US" sz="3002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Stronger privacy controls and independent security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095" y="917543"/>
            <a:ext cx="17386744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REFERENCES AND ACKNOWLEDGEMENTS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782536"/>
            <a:ext cx="16471659" cy="8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7F1E7"/>
                </a:solidFill>
                <a:latin typeface="Arimo Bold"/>
                <a:ea typeface="Arimo Bold"/>
                <a:cs typeface="Arimo Bold"/>
                <a:sym typeface="Arimo Bold"/>
              </a:rPr>
              <a:t>References &amp; Credits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3200400"/>
            <a:ext cx="8229600" cy="34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773" lvl="1" indent="-271887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Express (MIT):</a:t>
            </a:r>
            <a:r>
              <a:rPr lang="en-US" sz="2400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web server and API.</a:t>
            </a:r>
          </a:p>
          <a:p>
            <a:pPr marL="543773" lvl="1" indent="-271887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Leaflet (BSD-2) and OpenStreetMap:</a:t>
            </a:r>
            <a:r>
              <a:rPr lang="en-US" sz="2400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circle map, with tiles © OpenStreetMap contributors.</a:t>
            </a:r>
          </a:p>
          <a:p>
            <a:pPr marL="543773" lvl="1" indent="-271887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Telegram Bot API:</a:t>
            </a:r>
            <a:r>
              <a:rPr lang="en-US" sz="2400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optional alert delivery.</a:t>
            </a:r>
          </a:p>
          <a:p>
            <a:pPr marL="543773" lvl="1" indent="-271887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Web Crypto API (W3C):</a:t>
            </a:r>
            <a:r>
              <a:rPr lang="en-US" sz="2400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on-device AES-GCM and PBKDF2 encryption.</a:t>
            </a:r>
          </a:p>
          <a:p>
            <a:pPr marL="543773" lvl="1" indent="-271887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b="1" dirty="0">
                <a:solidFill>
                  <a:srgbClr val="F7F1E7"/>
                </a:solidFill>
                <a:latin typeface="Inter Bold"/>
                <a:ea typeface="Inter Bold"/>
                <a:cs typeface="Inter Bold"/>
                <a:sym typeface="Inter Bold"/>
              </a:rPr>
              <a:t>Render and GitHub:</a:t>
            </a:r>
            <a:r>
              <a:rPr lang="en-US" sz="2400" dirty="0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 hosting and source code.</a:t>
            </a:r>
          </a:p>
        </p:txBody>
      </p:sp>
      <p:sp>
        <p:nvSpPr>
          <p:cNvPr id="7" name="Credits right"/>
          <p:cNvSpPr txBox="1"/>
          <p:nvPr/>
        </p:nvSpPr>
        <p:spPr>
          <a:xfrm>
            <a:off x="9692640" y="3200400"/>
            <a:ext cx="7315200" cy="357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1" dirty="0">
                <a:solidFill>
                  <a:srgbClr val="F7F1E7"/>
                </a:solidFill>
                <a:latin typeface="Inter Bold"/>
              </a:rPr>
              <a:t>Problem statement:</a:t>
            </a:r>
            <a:r>
              <a:rPr sz="2400" b="0" dirty="0">
                <a:solidFill>
                  <a:srgbClr val="F7F1E7"/>
                </a:solidFill>
                <a:latin typeface="Inter"/>
              </a:rPr>
              <a:t> </a:t>
            </a:r>
            <a:r>
              <a:rPr sz="2400" b="0" dirty="0" err="1">
                <a:solidFill>
                  <a:srgbClr val="F7F1E7"/>
                </a:solidFill>
                <a:latin typeface="Inter"/>
              </a:rPr>
              <a:t>recHERsion</a:t>
            </a:r>
            <a:r>
              <a:rPr sz="2400" b="0" dirty="0">
                <a:solidFill>
                  <a:srgbClr val="F7F1E7"/>
                </a:solidFill>
                <a:latin typeface="Inter"/>
              </a:rPr>
              <a:t> 2026, PS2: Women's Safety.</a:t>
            </a:r>
          </a:p>
          <a:p>
            <a:pPr>
              <a:spcAft>
                <a:spcPts val="1600"/>
              </a:spcAft>
            </a:pPr>
            <a:r>
              <a:rPr sz="2400" b="1" dirty="0">
                <a:solidFill>
                  <a:srgbClr val="F7F1E7"/>
                </a:solidFill>
                <a:latin typeface="Inter Bold"/>
              </a:rPr>
              <a:t>Typography:</a:t>
            </a:r>
            <a:r>
              <a:rPr sz="2400" b="0" dirty="0">
                <a:solidFill>
                  <a:srgbClr val="F7F1E7"/>
                </a:solidFill>
                <a:latin typeface="Inter"/>
              </a:rPr>
              <a:t> Inter, Fraunces and DM Sans (SIL Open Font License).</a:t>
            </a:r>
          </a:p>
          <a:p>
            <a:pPr>
              <a:spcAft>
                <a:spcPts val="1600"/>
              </a:spcAft>
            </a:pPr>
            <a:r>
              <a:rPr sz="2400" b="1" dirty="0">
                <a:solidFill>
                  <a:srgbClr val="F7F1E7"/>
                </a:solidFill>
                <a:latin typeface="Inter Bold"/>
              </a:rPr>
              <a:t>AI assistance:</a:t>
            </a:r>
            <a:r>
              <a:rPr sz="2400" b="0" dirty="0">
                <a:solidFill>
                  <a:srgbClr val="F7F1E7"/>
                </a:solidFill>
                <a:latin typeface="Inter"/>
              </a:rPr>
              <a:t> design and code developed with Claude (Anthropic). Team AUREX reviewed and can explain the implementation.</a:t>
            </a:r>
          </a:p>
          <a:p>
            <a:pPr>
              <a:spcAft>
                <a:spcPts val="1600"/>
              </a:spcAft>
            </a:pPr>
            <a:endParaRPr sz="2400" b="0" dirty="0">
              <a:solidFill>
                <a:srgbClr val="F7F1E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F5F89-BF15-8A09-C8FE-DE4FD79D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70B18F-ADB1-31EC-EC77-4E1423E989D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870" y="-8039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9A124989-FEE4-1085-9A56-47215D3616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FC50BE5-133F-27DB-79B5-C473F89E9023}"/>
              </a:ext>
            </a:extLst>
          </p:cNvPr>
          <p:cNvSpPr txBox="1"/>
          <p:nvPr/>
        </p:nvSpPr>
        <p:spPr>
          <a:xfrm>
            <a:off x="915095" y="917543"/>
            <a:ext cx="9455953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BUILD · OPEN SOURCE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732F9D0-CCCD-0184-C721-E459E5F5285B}"/>
              </a:ext>
            </a:extLst>
          </p:cNvPr>
          <p:cNvSpPr txBox="1"/>
          <p:nvPr/>
        </p:nvSpPr>
        <p:spPr>
          <a:xfrm>
            <a:off x="915095" y="1450762"/>
            <a:ext cx="8540858" cy="2543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b="1" spc="-30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Connecting Women to Help, One Knot at a Time.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F64DF48-AE85-9159-0329-7B2A217FED83}"/>
              </a:ext>
            </a:extLst>
          </p:cNvPr>
          <p:cNvSpPr txBox="1"/>
          <p:nvPr/>
        </p:nvSpPr>
        <p:spPr>
          <a:xfrm>
            <a:off x="915094" y="4880760"/>
            <a:ext cx="922721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3"/>
              </a:lnSpc>
            </a:pPr>
            <a:r>
              <a:rPr lang="en-US" sz="2400" b="1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Demo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https://dhaaga-dg07.onrender.com</a:t>
            </a:r>
            <a:endParaRPr lang="en-US" sz="2400" spc="21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2723"/>
              </a:lnSpc>
            </a:pPr>
            <a:r>
              <a:rPr lang="en-US" sz="2400" b="1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Repository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https://github.com/IqraSanadi22/Dhaaga</a:t>
            </a:r>
            <a:endParaRPr lang="en-US" sz="2400" spc="21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2723"/>
              </a:lnSpc>
            </a:pPr>
            <a:r>
              <a:rPr lang="en-US" sz="2400" b="1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Video demo</a:t>
            </a:r>
            <a:r>
              <a:rPr lang="en-US" sz="2400" spc="2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https://drive.google.com/file/d/1COMCP0ay0-Kvlr7AqIfTPVeVXM3c-_BA/view?usp=sharing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692CCCB-2DDF-6D6E-8DC3-F201F9B71055}"/>
              </a:ext>
            </a:extLst>
          </p:cNvPr>
          <p:cNvGrpSpPr/>
          <p:nvPr/>
        </p:nvGrpSpPr>
        <p:grpSpPr>
          <a:xfrm>
            <a:off x="10371039" y="1004630"/>
            <a:ext cx="3851015" cy="5436918"/>
            <a:chOff x="0" y="0"/>
            <a:chExt cx="5134686" cy="72492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D30BCBA-5DF1-242E-9FF9-148A8234729F}"/>
                </a:ext>
              </a:extLst>
            </p:cNvPr>
            <p:cNvSpPr/>
            <p:nvPr/>
          </p:nvSpPr>
          <p:spPr>
            <a:xfrm>
              <a:off x="0" y="0"/>
              <a:ext cx="5134737" cy="7249287"/>
            </a:xfrm>
            <a:custGeom>
              <a:avLst/>
              <a:gdLst/>
              <a:ahLst/>
              <a:cxnLst/>
              <a:rect l="l" t="t" r="r" b="b"/>
              <a:pathLst>
                <a:path w="5134737" h="7249287">
                  <a:moveTo>
                    <a:pt x="0" y="427101"/>
                  </a:moveTo>
                  <a:cubicBezTo>
                    <a:pt x="0" y="191135"/>
                    <a:pt x="191135" y="0"/>
                    <a:pt x="427101" y="0"/>
                  </a:cubicBezTo>
                  <a:lnTo>
                    <a:pt x="4707636" y="0"/>
                  </a:lnTo>
                  <a:cubicBezTo>
                    <a:pt x="4943475" y="0"/>
                    <a:pt x="5134737" y="191135"/>
                    <a:pt x="5134737" y="427101"/>
                  </a:cubicBezTo>
                  <a:lnTo>
                    <a:pt x="5134737" y="6822186"/>
                  </a:lnTo>
                  <a:cubicBezTo>
                    <a:pt x="5134737" y="7058025"/>
                    <a:pt x="4943602" y="7249287"/>
                    <a:pt x="4707636" y="7249287"/>
                  </a:cubicBezTo>
                  <a:lnTo>
                    <a:pt x="427101" y="7249287"/>
                  </a:lnTo>
                  <a:cubicBezTo>
                    <a:pt x="191135" y="7249287"/>
                    <a:pt x="0" y="7058025"/>
                    <a:pt x="0" y="6822186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3111A4D-46EA-65EA-3C6F-6E1AA6F5B275}"/>
              </a:ext>
            </a:extLst>
          </p:cNvPr>
          <p:cNvSpPr txBox="1"/>
          <p:nvPr/>
        </p:nvSpPr>
        <p:spPr>
          <a:xfrm>
            <a:off x="10714206" y="1312097"/>
            <a:ext cx="3507857" cy="3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F2A5E96-12AF-6FC2-4E97-EC7BE40CBB02}"/>
              </a:ext>
            </a:extLst>
          </p:cNvPr>
          <p:cNvSpPr txBox="1"/>
          <p:nvPr/>
        </p:nvSpPr>
        <p:spPr>
          <a:xfrm>
            <a:off x="10714206" y="1933070"/>
            <a:ext cx="3164691" cy="303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Structured responses, journey-based check-ins, user-controlled documentation, and one cohesive safety workflow.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419DE71-40B4-7AFF-D9A3-07CC4AB2C3FB}"/>
              </a:ext>
            </a:extLst>
          </p:cNvPr>
          <p:cNvGrpSpPr/>
          <p:nvPr/>
        </p:nvGrpSpPr>
        <p:grpSpPr>
          <a:xfrm>
            <a:off x="14450825" y="1004630"/>
            <a:ext cx="3851015" cy="5436918"/>
            <a:chOff x="0" y="0"/>
            <a:chExt cx="5134686" cy="724922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C800C8E-7D53-7266-1027-D670F72F0C0E}"/>
                </a:ext>
              </a:extLst>
            </p:cNvPr>
            <p:cNvSpPr/>
            <p:nvPr/>
          </p:nvSpPr>
          <p:spPr>
            <a:xfrm>
              <a:off x="0" y="0"/>
              <a:ext cx="5134737" cy="7249287"/>
            </a:xfrm>
            <a:custGeom>
              <a:avLst/>
              <a:gdLst/>
              <a:ahLst/>
              <a:cxnLst/>
              <a:rect l="l" t="t" r="r" b="b"/>
              <a:pathLst>
                <a:path w="5134737" h="7249287">
                  <a:moveTo>
                    <a:pt x="0" y="427101"/>
                  </a:moveTo>
                  <a:cubicBezTo>
                    <a:pt x="0" y="191135"/>
                    <a:pt x="191135" y="0"/>
                    <a:pt x="427101" y="0"/>
                  </a:cubicBezTo>
                  <a:lnTo>
                    <a:pt x="4707636" y="0"/>
                  </a:lnTo>
                  <a:cubicBezTo>
                    <a:pt x="4943475" y="0"/>
                    <a:pt x="5134737" y="191135"/>
                    <a:pt x="5134737" y="427101"/>
                  </a:cubicBezTo>
                  <a:lnTo>
                    <a:pt x="5134737" y="6822186"/>
                  </a:lnTo>
                  <a:cubicBezTo>
                    <a:pt x="5134737" y="7058025"/>
                    <a:pt x="4943602" y="7249287"/>
                    <a:pt x="4707636" y="7249287"/>
                  </a:cubicBezTo>
                  <a:lnTo>
                    <a:pt x="427101" y="7249287"/>
                  </a:lnTo>
                  <a:cubicBezTo>
                    <a:pt x="191135" y="7249287"/>
                    <a:pt x="0" y="7058025"/>
                    <a:pt x="0" y="6822186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F1664B5-2454-282F-5BE3-A9FD7B04D805}"/>
              </a:ext>
            </a:extLst>
          </p:cNvPr>
          <p:cNvSpPr txBox="1"/>
          <p:nvPr/>
        </p:nvSpPr>
        <p:spPr>
          <a:xfrm>
            <a:off x="14793992" y="1312097"/>
            <a:ext cx="3164691" cy="64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spc="84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IMPLEMENTATION HIGHLIGHTS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61103E2-3BC4-60A4-4DF5-421FFF2541D9}"/>
              </a:ext>
            </a:extLst>
          </p:cNvPr>
          <p:cNvSpPr txBox="1"/>
          <p:nvPr/>
        </p:nvSpPr>
        <p:spPr>
          <a:xfrm>
            <a:off x="14793992" y="2253301"/>
            <a:ext cx="3164691" cy="3890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F7F1E7"/>
                </a:solidFill>
                <a:latin typeface="Inter"/>
                <a:ea typeface="Inter"/>
                <a:cs typeface="Inter"/>
                <a:sym typeface="Inter"/>
              </a:rPr>
              <a:t>Public deployment, tested escalation workflow, trusted-contact roles, alert outbox, configurable stages, evidence vault, complaint drafting, and public source code.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396B2A-CA46-9CD6-CDF5-2FDDB1A9D972}"/>
              </a:ext>
            </a:extLst>
          </p:cNvPr>
          <p:cNvSpPr txBox="1"/>
          <p:nvPr/>
        </p:nvSpPr>
        <p:spPr>
          <a:xfrm>
            <a:off x="666893" y="8021187"/>
            <a:ext cx="7798363" cy="1272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“Safety should not depend on finding the right button at the right moment. DHAAGA helps the circle respond when a knot is missed.”</a:t>
            </a:r>
          </a:p>
        </p:txBody>
      </p:sp>
      <p:grpSp>
        <p:nvGrpSpPr>
          <p:cNvPr id="24" name="Group 24">
            <a:extLst>
              <a:ext uri="{FF2B5EF4-FFF2-40B4-BE49-F238E27FC236}">
                <a16:creationId xmlns:a16="http://schemas.microsoft.com/office/drawing/2014/main" id="{F754FEA0-F81D-01C0-664B-942D14F4AA6D}"/>
              </a:ext>
            </a:extLst>
          </p:cNvPr>
          <p:cNvGrpSpPr/>
          <p:nvPr/>
        </p:nvGrpSpPr>
        <p:grpSpPr>
          <a:xfrm>
            <a:off x="457200" y="7952276"/>
            <a:ext cx="45719" cy="1557853"/>
            <a:chOff x="0" y="0"/>
            <a:chExt cx="57188" cy="1443774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E9FD65B-C928-8C71-3E2F-27575DEB7217}"/>
                </a:ext>
              </a:extLst>
            </p:cNvPr>
            <p:cNvSpPr/>
            <p:nvPr/>
          </p:nvSpPr>
          <p:spPr>
            <a:xfrm>
              <a:off x="0" y="0"/>
              <a:ext cx="57150" cy="1443736"/>
            </a:xfrm>
            <a:custGeom>
              <a:avLst/>
              <a:gdLst/>
              <a:ahLst/>
              <a:cxnLst/>
              <a:rect l="l" t="t" r="r" b="b"/>
              <a:pathLst>
                <a:path w="57150" h="1443736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cubicBezTo>
                    <a:pt x="44323" y="0"/>
                    <a:pt x="57150" y="12827"/>
                    <a:pt x="57150" y="28575"/>
                  </a:cubicBezTo>
                  <a:lnTo>
                    <a:pt x="57150" y="1415161"/>
                  </a:lnTo>
                  <a:cubicBezTo>
                    <a:pt x="57150" y="1430909"/>
                    <a:pt x="44323" y="1443736"/>
                    <a:pt x="28575" y="1443736"/>
                  </a:cubicBezTo>
                  <a:cubicBezTo>
                    <a:pt x="12827" y="1443736"/>
                    <a:pt x="0" y="1430909"/>
                    <a:pt x="0" y="1415161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</p:spTree>
    <p:extLst>
      <p:ext uri="{BB962C8B-B14F-4D97-AF65-F5344CB8AC3E}">
        <p14:creationId xmlns:p14="http://schemas.microsoft.com/office/powerpoint/2010/main" val="184786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2D27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1900</Words>
  <Application>Microsoft Office PowerPoint</Application>
  <PresentationFormat>Custom</PresentationFormat>
  <Paragraphs>191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Arimo</vt:lpstr>
      <vt:lpstr>Arimo Bold</vt:lpstr>
      <vt:lpstr>Inter Bold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DHAAGA (3).pptx</dc:title>
  <dc:creator>Iqra</dc:creator>
  <cp:lastModifiedBy>Iqra Sanadi</cp:lastModifiedBy>
  <cp:revision>5</cp:revision>
  <dcterms:created xsi:type="dcterms:W3CDTF">2006-08-16T00:00:00Z</dcterms:created>
  <dcterms:modified xsi:type="dcterms:W3CDTF">2026-10-25T14:25:09Z</dcterms:modified>
  <dc:identifier>DAHY_IUaThA</dc:identifier>
</cp:coreProperties>
</file>